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 suspected cases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  <c:pt idx="5">
                  <c:v>Week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15</c:v>
                </c:pt>
                <c:pt idx="2">
                  <c:v>29</c:v>
                </c:pt>
                <c:pt idx="3">
                  <c:v>34</c:v>
                </c:pt>
                <c:pt idx="4">
                  <c:v>21</c:v>
                </c:pt>
                <c:pt idx="5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New suspected 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548640"/>
            <a:ext cx="2194560" cy="2194560"/>
          </a:xfrm>
          <a:prstGeom prst="ellipse">
            <a:avLst/>
          </a:prstGeom>
          <a:solidFill>
            <a:srgbClr val="276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2011680"/>
            <a:ext cx="1371600" cy="1371600"/>
          </a:xfrm>
          <a:prstGeom prst="ellipse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291840"/>
            <a:ext cx="914400" cy="9144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4114800"/>
            <a:ext cx="685800" cy="685800"/>
          </a:xfrm>
          <a:prstGeom prst="ellipse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9978F"/>
                </a:solidFill>
                <a:latin typeface="Aptos"/>
              </a:defRPr>
            </a:pPr>
            <a:r>
              <a:t>THEME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34440"/>
            <a:ext cx="77724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900" b="1">
                <a:solidFill>
                  <a:srgbClr val="FFFFFF"/>
                </a:solidFill>
                <a:latin typeface="Aptos"/>
              </a:defRPr>
            </a:pPr>
            <a:r>
              <a:t>OUTBREAK</a:t>
            </a:r>
            <a:br/>
            <a:r>
              <a:t>CONTROL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27248"/>
            <a:ext cx="69494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0">
                <a:solidFill>
                  <a:srgbClr val="D2E2EF"/>
                </a:solidFill>
                <a:latin typeface="Aptos"/>
              </a:defRPr>
            </a:pPr>
            <a:r>
              <a:t>Health, Disease Prevention &amp; Biosecurity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67665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A fictional outbreak investigation by a student scientific response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6766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D2E2EF"/>
                </a:solidFill>
                <a:latin typeface="Aptos"/>
              </a:defRPr>
            </a:pPr>
            <a:r>
              <a:t>Presented by: ____________________   Class: 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36208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E69138"/>
                </a:solidFill>
                <a:latin typeface="Aptos"/>
              </a:defRPr>
            </a:pPr>
            <a:r>
              <a:t>SIMULATION • ALL CASE DATA ARE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0233D"/>
                </a:solidFill>
                <a:latin typeface="Aptos"/>
              </a:defRPr>
            </a:pPr>
            <a:r>
              <a:t>Mission briefing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1005840" cy="54864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19978F"/>
                </a:solidFill>
                <a:latin typeface="Aptos"/>
              </a:defRPr>
            </a:pPr>
            <a:r>
              <a:t>01 • THE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5836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0">
                <a:solidFill>
                  <a:srgbClr val="23303D"/>
                </a:solidFill>
                <a:latin typeface="Aptos"/>
              </a:defRPr>
            </a:pPr>
            <a:r>
              <a:t>A cluster of people in the fictional city of Northbridge develops fever, cough, and tiredness. Clinics report more patients than usual.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325880"/>
            <a:ext cx="3566160" cy="114300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325880"/>
            <a:ext cx="82296" cy="1143000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9288" y="1472184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9288" y="1856231"/>
            <a:ext cx="320040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Find out what is happening, protect people, and slow transmission.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3337560" cy="1874519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82296" cy="1874519"/>
          </a:xfrm>
          <a:prstGeom prst="rect">
            <a:avLst/>
          </a:prstGeom>
          <a:solidFill>
            <a:srgbClr val="276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889504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1 • INVESTIGATE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73552"/>
            <a:ext cx="2971800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Collect symptom and exposure histories; work with qualified health professionals.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43200"/>
            <a:ext cx="3337560" cy="1874519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743200"/>
            <a:ext cx="82296" cy="1874519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889504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2 •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273552"/>
            <a:ext cx="2971800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Monitor trends and identify possible links between cases using privacy-protecting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43200"/>
            <a:ext cx="3337560" cy="1874519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743200"/>
            <a:ext cx="82296" cy="1874519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889504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3 • RESPOND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3273552"/>
            <a:ext cx="2971800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Share clear advice, support testing and care, and evaluate whether measures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5780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BE4444"/>
                </a:solidFill>
                <a:latin typeface="Aptos"/>
              </a:defRPr>
            </a:pPr>
            <a:r>
              <a:t>Important: this is an educational simulation, not a real disease alert or medical diagnosis.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2707E"/>
                </a:solidFill>
                <a:latin typeface="Aptos"/>
              </a:defRPr>
            </a:pPr>
            <a:r>
              <a:t>OUTBREAK CONTROL UNIT • SCHOOL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548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62707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0233D"/>
                </a:solidFill>
                <a:latin typeface="Aptos"/>
              </a:defRPr>
            </a:pPr>
            <a:r>
              <a:t>Meet the response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1005840" cy="54864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19978F"/>
                </a:solidFill>
                <a:latin typeface="Aptos"/>
              </a:defRPr>
            </a:pPr>
            <a:r>
              <a:t>02 • PUBLIC HEALTH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150876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82296" cy="1508760"/>
          </a:xfrm>
          <a:prstGeom prst="rect">
            <a:avLst/>
          </a:prstGeom>
          <a:solidFill>
            <a:srgbClr val="276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EPIDEMIOLOGISTS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Study who is getting sick, when symptoms begin, and where cases may be linked.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150876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82296" cy="1508760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LABORATORY SCIENTISTS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Use validated tests to help identify the cause of illness.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29000" cy="150876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82296" cy="150876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HEALTHCARE WORKERS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Assess patients, provide care, and use appropriate infection-control precautions.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3429000"/>
            <a:ext cx="3429000" cy="150876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429000"/>
            <a:ext cx="82296" cy="1508760"/>
          </a:xfrm>
          <a:prstGeom prst="rect">
            <a:avLst/>
          </a:prstGeom>
          <a:solidFill>
            <a:srgbClr val="36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5768" y="35753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DATA &amp; AI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3959352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Check data quality, summarize trends, and flag patterns for human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29000"/>
            <a:ext cx="3429000" cy="150876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429000"/>
            <a:ext cx="82296" cy="1508760"/>
          </a:xfrm>
          <a:prstGeom prst="rect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5753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COMMUNITY LIAISONS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959352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Listen to concerns and communicate advice in accessible language.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10233D"/>
                </a:solidFill>
                <a:latin typeface="Aptos"/>
              </a:defRPr>
            </a:pPr>
            <a:r>
              <a:t>A coordinated response needs trusted communication, trained staff, and cooperation across sectors.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2707E"/>
                </a:solidFill>
                <a:latin typeface="Aptos"/>
              </a:defRPr>
            </a:pPr>
            <a:r>
              <a:t>OUTBREAK CONTROL UNIT • SCHOOL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48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62707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0233D"/>
                </a:solidFill>
                <a:latin typeface="Aptos"/>
              </a:defRPr>
            </a:pPr>
            <a:r>
              <a:t>How an outbreak is investigated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1005840" cy="54864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19978F"/>
                </a:solidFill>
                <a:latin typeface="Aptos"/>
              </a:defRPr>
            </a:pPr>
            <a:r>
              <a:t>03 • INVESTIGATION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353312"/>
            <a:ext cx="457200" cy="457200"/>
          </a:xfrm>
          <a:prstGeom prst="ellipse">
            <a:avLst/>
          </a:prstGeom>
          <a:solidFill>
            <a:srgbClr val="276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9903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2588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0233D"/>
                </a:solidFill>
                <a:latin typeface="Aptos"/>
              </a:defRPr>
            </a:pPr>
            <a:r>
              <a:t>1. 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25880"/>
            <a:ext cx="7589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3303D"/>
                </a:solidFill>
                <a:latin typeface="Aptos"/>
              </a:defRPr>
            </a:pPr>
            <a:r>
              <a:t>Clinics notice an unusual increase in similar illness.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231136"/>
            <a:ext cx="457200" cy="457200"/>
          </a:xfrm>
          <a:prstGeom prst="ellipse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76856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03704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0233D"/>
                </a:solidFill>
                <a:latin typeface="Aptos"/>
              </a:defRPr>
            </a:pPr>
            <a:r>
              <a:t>2.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03704"/>
            <a:ext cx="7589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3303D"/>
                </a:solidFill>
                <a:latin typeface="Aptos"/>
              </a:defRPr>
            </a:pPr>
            <a:r>
              <a:t>Health authorities check reports and arrange appropriate testing.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108960"/>
            <a:ext cx="457200" cy="45720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81528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0233D"/>
                </a:solidFill>
                <a:latin typeface="Aptos"/>
              </a:defRPr>
            </a:pPr>
            <a:r>
              <a:t>3. Describe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081528"/>
            <a:ext cx="7589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3303D"/>
                </a:solidFill>
                <a:latin typeface="Aptos"/>
              </a:defRPr>
            </a:pPr>
            <a:r>
              <a:t>Compare cases by time, place, and person.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986784"/>
            <a:ext cx="457200" cy="457200"/>
          </a:xfrm>
          <a:prstGeom prst="ellipse">
            <a:avLst/>
          </a:prstGeom>
          <a:solidFill>
            <a:srgbClr val="36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3250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59352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0233D"/>
                </a:solidFill>
                <a:latin typeface="Aptos"/>
              </a:defRPr>
            </a:pPr>
            <a:r>
              <a:t>4. Form hypotheses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959352"/>
            <a:ext cx="7589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3303D"/>
                </a:solidFill>
                <a:latin typeface="Aptos"/>
              </a:defRPr>
            </a:pPr>
            <a:r>
              <a:t>Look for shared exposures without assuming the cause.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864608"/>
            <a:ext cx="457200" cy="457200"/>
          </a:xfrm>
          <a:prstGeom prst="ellipse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91032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37176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10233D"/>
                </a:solidFill>
                <a:latin typeface="Aptos"/>
              </a:defRPr>
            </a:pPr>
            <a:r>
              <a:t>5. Act and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837176"/>
            <a:ext cx="7589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3303D"/>
                </a:solidFill>
                <a:latin typeface="Aptos"/>
              </a:defRPr>
            </a:pPr>
            <a:r>
              <a:t>Apply proportionate controls and monitor results.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806440"/>
            <a:ext cx="9601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9978F"/>
                </a:solidFill>
                <a:latin typeface="Aptos"/>
              </a:defRPr>
            </a:pPr>
            <a:r>
              <a:t>Evidence-based decisions change as new information becomes available.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2707E"/>
                </a:solidFill>
                <a:latin typeface="Aptos"/>
              </a:defRPr>
            </a:pPr>
            <a:r>
              <a:t>OUTBREAK CONTROL UNIT • SCHOOL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48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62707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0233D"/>
                </a:solidFill>
                <a:latin typeface="Aptos"/>
              </a:defRPr>
            </a:pPr>
            <a:r>
              <a:t>Fictional outbreak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1005840" cy="54864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19978F"/>
                </a:solidFill>
                <a:latin typeface="Aptos"/>
              </a:defRPr>
            </a:pPr>
            <a:r>
              <a:t>04 • STATISTICAL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62707E"/>
                </a:solidFill>
                <a:latin typeface="Aptos"/>
              </a:defRPr>
            </a:pPr>
            <a:r>
              <a:t>Reported new suspected cases by week (invented data for this school project)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737360"/>
            <a:ext cx="3383280" cy="105156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1737360"/>
            <a:ext cx="82296" cy="105156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883664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0233D"/>
                </a:solidFill>
                <a:latin typeface="Aptos"/>
              </a:defRPr>
            </a:pPr>
            <a:r>
              <a:t>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2267712"/>
            <a:ext cx="3017520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34 new suspected cases in Week 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971800"/>
            <a:ext cx="3383280" cy="105156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2971800"/>
            <a:ext cx="82296" cy="1051560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3118104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0233D"/>
                </a:solidFill>
                <a:latin typeface="Aptos"/>
              </a:defRPr>
            </a:pPr>
            <a:r>
              <a:t>AFTER THE PEAK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3502152"/>
            <a:ext cx="3017520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Reports fall to 10 in Week 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206240"/>
            <a:ext cx="3383280" cy="105156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4206240"/>
            <a:ext cx="82296" cy="1051560"/>
          </a:xfrm>
          <a:prstGeom prst="rect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4352544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0233D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4736592"/>
            <a:ext cx="3017520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23303D"/>
                </a:solidFill>
                <a:latin typeface="Aptos"/>
              </a:defRPr>
            </a:pPr>
            <a:r>
              <a:t>A decline does not prove the outbreak is over; reporting delays may occur.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BE4444"/>
                </a:solidFill>
                <a:latin typeface="Aptos"/>
              </a:defRPr>
            </a:pPr>
            <a:r>
              <a:t>These are not real-world figures and do not describe any actual pathogen.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2707E"/>
                </a:solidFill>
                <a:latin typeface="Aptos"/>
              </a:defRPr>
            </a:pPr>
            <a:r>
              <a:t>OUTBREAK CONTROL UNIT • SCHOOL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548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62707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0233D"/>
                </a:solidFill>
                <a:latin typeface="Aptos"/>
              </a:defRPr>
            </a:pPr>
            <a:r>
              <a:t>What do the numbers tell us?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1005840" cy="54864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19978F"/>
                </a:solidFill>
                <a:latin typeface="Aptos"/>
              </a:defRPr>
            </a:pPr>
            <a:r>
              <a:t>05 • INTERPRETING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83280" cy="141732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82296" cy="1417320"/>
          </a:xfrm>
          <a:prstGeom prst="rect">
            <a:avLst/>
          </a:prstGeom>
          <a:solidFill>
            <a:srgbClr val="276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63624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TOTAL REPORTED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47672"/>
            <a:ext cx="301752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3303D"/>
                </a:solidFill>
                <a:latin typeface="Aptos"/>
              </a:defRPr>
            </a:pPr>
            <a:r>
              <a:t>117 suspected cases across six simulated weeks.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41732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82296" cy="141732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63624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WEEK 4 PEAK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301752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3303D"/>
                </a:solidFill>
                <a:latin typeface="Aptos"/>
              </a:defRPr>
            </a:pPr>
            <a:r>
              <a:t>The highest weekly count is 34.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17320"/>
            <a:ext cx="3383280" cy="141732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417320"/>
            <a:ext cx="82296" cy="1417320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563624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WEEK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947672"/>
            <a:ext cx="301752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3303D"/>
                </a:solidFill>
                <a:latin typeface="Aptos"/>
              </a:defRPr>
            </a:pPr>
            <a:r>
              <a:t>10 cases reported—about 71% lower than the Week 4 peak.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3756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1">
                <a:solidFill>
                  <a:srgbClr val="10233D"/>
                </a:solidFill>
                <a:latin typeface="Aptos"/>
              </a:defRPr>
            </a:pPr>
            <a:r>
              <a:t>Questions for the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10515600" cy="2057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03D"/>
                </a:solidFill>
                <a:latin typeface="Aptos"/>
              </a:defRPr>
            </a:pPr>
            <a:r>
              <a:t>•  Could the rise reflect more testing or better reporting?</a:t>
            </a:r>
          </a:p>
          <a:p>
            <a:pPr>
              <a:spcAft>
                <a:spcPts val="800"/>
              </a:spcAft>
              <a:defRPr sz="1700">
                <a:solidFill>
                  <a:srgbClr val="23303D"/>
                </a:solidFill>
                <a:latin typeface="Aptos"/>
              </a:defRPr>
            </a:pPr>
            <a:r>
              <a:t>•  Are cases clustered in particular locations or groups?</a:t>
            </a:r>
          </a:p>
          <a:p>
            <a:pPr>
              <a:spcAft>
                <a:spcPts val="800"/>
              </a:spcAft>
              <a:defRPr sz="1700">
                <a:solidFill>
                  <a:srgbClr val="23303D"/>
                </a:solidFill>
                <a:latin typeface="Aptos"/>
              </a:defRPr>
            </a:pPr>
            <a:r>
              <a:t>•  What additional information would help explain the trend?</a:t>
            </a:r>
          </a:p>
          <a:p>
            <a:pPr>
              <a:spcAft>
                <a:spcPts val="800"/>
              </a:spcAft>
              <a:defRPr sz="1700">
                <a:solidFill>
                  <a:srgbClr val="23303D"/>
                </a:solidFill>
                <a:latin typeface="Aptos"/>
              </a:defRPr>
            </a:pPr>
            <a:r>
              <a:t>•  What other measures should be monitored, such as hospitalizations or test positivity?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2707E"/>
                </a:solidFill>
                <a:latin typeface="Aptos"/>
              </a:defRPr>
            </a:pPr>
            <a:r>
              <a:t>OUTBREAK CONTROL UNIT • SCHOOL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62707E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0233D"/>
                </a:solidFill>
                <a:latin typeface="Aptos"/>
              </a:defRPr>
            </a:pPr>
            <a:r>
              <a:t>Disease prevention &amp; biosecurity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1005840" cy="54864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19978F"/>
                </a:solidFill>
                <a:latin typeface="Aptos"/>
              </a:defRPr>
            </a:pPr>
            <a:r>
              <a:t>06 •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150876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82296" cy="1508760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IN EVERYDAY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Wash hands; improve indoor ventilation; stay home when ill where feasible; follow current local health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150876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82296" cy="1508760"/>
          </a:xfrm>
          <a:prstGeom prst="rect">
            <a:avLst/>
          </a:prstGeom>
          <a:solidFill>
            <a:srgbClr val="276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IN HEALTHCARE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Use risk-appropriate protective equipment, hand hygiene, cleaning, and separation of patients when indicated.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29000" cy="150876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82296" cy="150876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IN THE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Give clear, non-stigmatizing information; make testing and care accessible; correct rumors quickly.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10515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10233D"/>
                </a:solidFill>
                <a:latin typeface="Aptos"/>
              </a:defRPr>
            </a:pPr>
            <a:r>
              <a:t>Biosecurity means practical steps that reduce the risk of harmful biological agents spreading or being mishandled.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10424160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  <a:latin typeface="Aptos"/>
              </a:defRPr>
            </a:pPr>
            <a:r>
              <a:t>•  Follow instructions from qualified health authorities.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  <a:latin typeface="Aptos"/>
              </a:defRPr>
            </a:pPr>
            <a:r>
              <a:t>•  Do not share personal medical information or spread unverified claims.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  <a:latin typeface="Aptos"/>
              </a:defRPr>
            </a:pPr>
            <a:r>
              <a:t>•  Choose measures based on the disease’s transmission route and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2707E"/>
                </a:solidFill>
                <a:latin typeface="Aptos"/>
              </a:defRPr>
            </a:pPr>
            <a:r>
              <a:t>OUTBREAK CONTROL UNIT • SCHOOL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62707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0233D"/>
                </a:solidFill>
                <a:latin typeface="Aptos"/>
              </a:defRPr>
            </a:pPr>
            <a:r>
              <a:t>Biotechnology: from sample to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1005840" cy="54864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19978F"/>
                </a:solidFill>
                <a:latin typeface="Aptos"/>
              </a:defRPr>
            </a:pPr>
            <a:r>
              <a:t>07 • LABORATORY SCIENCE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423160" cy="201168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82296" cy="2011680"/>
          </a:xfrm>
          <a:prstGeom prst="rect">
            <a:avLst/>
          </a:prstGeom>
          <a:solidFill>
            <a:srgbClr val="276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92224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0233D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205740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A trained professional collects an appropriate sample.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331720"/>
            <a:ext cx="365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600" b="1">
                <a:solidFill>
                  <a:srgbClr val="1997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45920"/>
            <a:ext cx="2423160" cy="201168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645920"/>
            <a:ext cx="82296" cy="2011680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792224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0233D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176272"/>
            <a:ext cx="205740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A validated diagnostic method looks for evidence of infection.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331720"/>
            <a:ext cx="365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600" b="1">
                <a:solidFill>
                  <a:srgbClr val="1997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645920"/>
            <a:ext cx="2423160" cy="201168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645920"/>
            <a:ext cx="82296" cy="201168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1792224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0233D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2176272"/>
            <a:ext cx="205740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Qualified staff review the result alongside symptoms and exposure.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331720"/>
            <a:ext cx="365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600" b="1">
                <a:solidFill>
                  <a:srgbClr val="1997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645920"/>
            <a:ext cx="2423160" cy="201168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645920"/>
            <a:ext cx="82296" cy="2011680"/>
          </a:xfrm>
          <a:prstGeom prst="rect">
            <a:avLst/>
          </a:prstGeom>
          <a:solidFill>
            <a:srgbClr val="368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8048" y="1792224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0233D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176272"/>
            <a:ext cx="205740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Results guide care and public-health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51960"/>
            <a:ext cx="3840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0233D"/>
                </a:solidFill>
                <a:latin typeface="Aptos"/>
              </a:defRPr>
            </a:pPr>
            <a:r>
              <a:t>Other biotechnology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63440"/>
            <a:ext cx="10607040" cy="1371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303D"/>
                </a:solidFill>
                <a:latin typeface="Aptos"/>
              </a:defRPr>
            </a:pPr>
            <a:r>
              <a:t>•  Genomic sequencing can help scientists compare pathogen samples and identify variants.</a:t>
            </a:r>
          </a:p>
          <a:p>
            <a:pPr>
              <a:spcAft>
                <a:spcPts val="500"/>
              </a:spcAft>
              <a:defRPr sz="1500">
                <a:solidFill>
                  <a:srgbClr val="23303D"/>
                </a:solidFill>
                <a:latin typeface="Aptos"/>
              </a:defRPr>
            </a:pPr>
            <a:r>
              <a:t>•  Vaccine research may help prevent disease, depending on the pathogen and available evidence.</a:t>
            </a:r>
          </a:p>
          <a:p>
            <a:pPr>
              <a:spcAft>
                <a:spcPts val="500"/>
              </a:spcAft>
              <a:defRPr sz="1500">
                <a:solidFill>
                  <a:srgbClr val="23303D"/>
                </a:solidFill>
                <a:latin typeface="Aptos"/>
              </a:defRPr>
            </a:pPr>
            <a:r>
              <a:t>•  Laboratory quality controls reduce the risk of misleading results.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2707E"/>
                </a:solidFill>
                <a:latin typeface="Aptos"/>
              </a:defRPr>
            </a:pPr>
            <a:r>
              <a:t>OUTBREAK CONTROL UNIT • SCHOOL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48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62707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0233D"/>
                </a:solidFill>
                <a:latin typeface="Aptos"/>
              </a:defRPr>
            </a:pPr>
            <a:r>
              <a:t>AI tracking: useful assistant, not a decision-maker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1005840" cy="54864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19978F"/>
                </a:solidFill>
                <a:latin typeface="Aptos"/>
              </a:defRPr>
            </a:pPr>
            <a:r>
              <a:t>08 • AI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141732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82296" cy="1417320"/>
          </a:xfrm>
          <a:prstGeom prst="rect">
            <a:avLst/>
          </a:prstGeom>
          <a:solidFill>
            <a:srgbClr val="276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6324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De-identified case counts, symptom-onset dates, test results, and broad location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141732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82296" cy="1417320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6324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Find unusual increases, map possible clusters, and compare trends over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29000" cy="141732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82296" cy="141732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06324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Public-health experts check data quality, context, and possible alternative explanations.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83280"/>
            <a:ext cx="3931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1">
                <a:solidFill>
                  <a:srgbClr val="10233D"/>
                </a:solidFill>
                <a:latin typeface="Aptos"/>
              </a:defRPr>
            </a:pPr>
            <a:r>
              <a:t>Safeguards are essential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40480"/>
            <a:ext cx="10424160" cy="1965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303D"/>
                </a:solidFill>
                <a:latin typeface="Aptos"/>
              </a:defRPr>
            </a:pPr>
            <a:r>
              <a:t>•  Protect privacy: collect only necessary information and restrict access.</a:t>
            </a:r>
          </a:p>
          <a:p>
            <a:pPr>
              <a:spcAft>
                <a:spcPts val="700"/>
              </a:spcAft>
              <a:defRPr sz="1600">
                <a:solidFill>
                  <a:srgbClr val="23303D"/>
                </a:solidFill>
                <a:latin typeface="Aptos"/>
              </a:defRPr>
            </a:pPr>
            <a:r>
              <a:t>•  Check for bias: missing data can make some communities less visible.</a:t>
            </a:r>
          </a:p>
          <a:p>
            <a:pPr>
              <a:spcAft>
                <a:spcPts val="700"/>
              </a:spcAft>
              <a:defRPr sz="1600">
                <a:solidFill>
                  <a:srgbClr val="23303D"/>
                </a:solidFill>
                <a:latin typeface="Aptos"/>
              </a:defRPr>
            </a:pPr>
            <a:r>
              <a:t>•  Avoid false certainty: a model can flag a pattern, but cannot prove causation.</a:t>
            </a:r>
          </a:p>
          <a:p>
            <a:pPr>
              <a:spcAft>
                <a:spcPts val="700"/>
              </a:spcAft>
              <a:defRPr sz="1600">
                <a:solidFill>
                  <a:srgbClr val="23303D"/>
                </a:solidFill>
                <a:latin typeface="Aptos"/>
              </a:defRPr>
            </a:pPr>
            <a:r>
              <a:t>•  Keep decisions accountable to qualified people and public-health authorities.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2707E"/>
                </a:solidFill>
                <a:latin typeface="Aptos"/>
              </a:defRPr>
            </a:pPr>
            <a:r>
              <a:t>OUTBREAK CONTROL UNIT • SCHOOL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62707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0233D"/>
                </a:solidFill>
                <a:latin typeface="Aptos"/>
              </a:defRPr>
            </a:pPr>
            <a:r>
              <a:t>Contact tracing &amp; supportive follow-up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1005840" cy="54864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19978F"/>
                </a:solidFill>
                <a:latin typeface="Aptos"/>
              </a:defRPr>
            </a:pPr>
            <a:r>
              <a:t>09 •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424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0">
                <a:solidFill>
                  <a:srgbClr val="23303D"/>
                </a:solidFill>
                <a:latin typeface="Aptos"/>
              </a:defRPr>
            </a:pPr>
            <a:r>
              <a:t>Contact tracing helps health teams identify people who may have been exposed and connect them with appropriate advice, testing, or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246120" cy="164592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82296" cy="1645920"/>
          </a:xfrm>
          <a:prstGeom prst="rect">
            <a:avLst/>
          </a:prstGeom>
          <a:solidFill>
            <a:srgbClr val="276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660904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044952"/>
            <a:ext cx="2880360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Interview confirmed cases using respectful, confidential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514600"/>
            <a:ext cx="3246120" cy="164592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514600"/>
            <a:ext cx="82296" cy="1645920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2660904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INFORM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044952"/>
            <a:ext cx="2880360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Explain possible exposure and what actions are recommended by health authorities.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514600"/>
            <a:ext cx="3246120" cy="1645920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514600"/>
            <a:ext cx="82296" cy="164592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660904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FOLLOW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044952"/>
            <a:ext cx="2880360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Offer support and monitor for symptoms when appropriate for the disease.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10233D"/>
                </a:solidFill>
                <a:latin typeface="Aptos"/>
              </a:defRPr>
            </a:pPr>
            <a:r>
              <a:t>The right approach depends on how the disease spreads, available resources, and current public-health guidance.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BE4444"/>
                </a:solidFill>
                <a:latin typeface="Aptos"/>
              </a:defRPr>
            </a:pPr>
            <a:r>
              <a:t>Contact tracing must be confidential, respectful, and proportionate—not public shaming.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2707E"/>
                </a:solidFill>
                <a:latin typeface="Aptos"/>
              </a:defRPr>
            </a:pPr>
            <a:r>
              <a:t>OUTBREAK CONTROL UNIT • SCHOOL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548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62707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0233D"/>
                </a:solidFill>
                <a:latin typeface="Aptos"/>
              </a:defRPr>
            </a:pPr>
            <a:r>
              <a:t>The Outbreak Control Unit action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1005840" cy="54864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19978F"/>
                </a:solidFill>
                <a:latin typeface="Aptos"/>
              </a:defRPr>
            </a:pPr>
            <a:r>
              <a:t>10 •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987552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82296" cy="987552"/>
          </a:xfrm>
          <a:prstGeom prst="rect">
            <a:avLst/>
          </a:prstGeom>
          <a:solidFill>
            <a:srgbClr val="2768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63624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0233D"/>
                </a:solidFill>
                <a:latin typeface="Aptos"/>
              </a:defRPr>
            </a:pPr>
            <a:r>
              <a:t>FIRST 24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47672"/>
            <a:ext cx="10149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Verify reports, alert the responsible health authority, protect healthcare staff, and communicate what is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0515600" cy="987552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82296" cy="987552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889504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0233D"/>
                </a:solidFill>
                <a:latin typeface="Aptos"/>
              </a:defRPr>
            </a:pPr>
            <a:r>
              <a:t>NEXT 2–3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273552"/>
            <a:ext cx="10149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Coordinate testing and case investigation; review capacity; share consistent public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10515600" cy="987552"/>
          </a:xfrm>
          <a:prstGeom prst="roundRect">
            <a:avLst/>
          </a:prstGeom>
          <a:solidFill>
            <a:srgbClr val="EFF6FA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82296" cy="987552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215384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0233D"/>
                </a:solidFill>
                <a:latin typeface="Aptos"/>
              </a:defRPr>
            </a:pPr>
            <a:r>
              <a:t>ONGOING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599432"/>
            <a:ext cx="10149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3303D"/>
                </a:solidFill>
                <a:latin typeface="Aptos"/>
              </a:defRPr>
            </a:pPr>
            <a:r>
              <a:t>Update the situation dashboard, assess whether interventions are working, and adjust actions to new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2356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0233D"/>
                </a:solidFill>
                <a:latin typeface="Aptos"/>
              </a:defRPr>
            </a:pPr>
            <a:r>
              <a:t>Success indicators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623560"/>
            <a:ext cx="8321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9978F"/>
                </a:solidFill>
                <a:latin typeface="Aptos"/>
              </a:defRPr>
            </a:pPr>
            <a:r>
              <a:t>Faster detection • safer care • reliable reporting • public trust • fewer new infections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2707E"/>
                </a:solidFill>
                <a:latin typeface="Aptos"/>
              </a:defRPr>
            </a:pPr>
            <a:r>
              <a:t>OUTBREAK CONTROL UNIT • SCHOOL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62707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19978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98755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Preparedness saves time.</a:t>
            </a:r>
            <a:br/>
            <a:r>
              <a:t>Evidence guides action.</a:t>
            </a:r>
            <a:br/>
            <a:r>
              <a:t>Cooperation protects people.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97840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0">
                <a:solidFill>
                  <a:srgbClr val="D7E5EF"/>
                </a:solidFill>
                <a:latin typeface="Aptos"/>
              </a:defRPr>
            </a:pPr>
            <a:r>
              <a:t>An effective outbreak response combines prevention, strong public-health systems, reliable laboratory science, careful statistical analysis, and responsible use of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49240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E69138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D7E5EF"/>
                </a:solidFill>
                <a:latin typeface="Aptos"/>
              </a:defRPr>
            </a:pPr>
            <a:r>
              <a:t>SIMULATED SCENARIO • FICTIONAL DATA • EDUCATIONAL 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0233D"/>
                </a:solidFill>
                <a:latin typeface="Aptos"/>
              </a:defRPr>
            </a:pPr>
            <a:r>
              <a:t>References &amp; scientific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1005840" cy="54864"/>
          </a:xfrm>
          <a:prstGeom prst="rect">
            <a:avLst/>
          </a:prstGeom>
          <a:solidFill>
            <a:srgbClr val="199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965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19978F"/>
                </a:solidFill>
                <a:latin typeface="Aptos"/>
              </a:defRPr>
            </a:pPr>
            <a:r>
              <a:t>11 •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3303D"/>
                </a:solidFill>
                <a:latin typeface="Aptos"/>
              </a:defRPr>
            </a:pPr>
            <a:r>
              <a:t>The scenario, city, disease description, and all case numbers in this presentation are fictional. Prevention and response concepts are based on public-health guidance.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0233D"/>
                </a:solidFill>
                <a:latin typeface="Aptos"/>
              </a:defRPr>
            </a:pPr>
            <a:r>
              <a:t>World Health Organization (WHO) — Surveillance in emergencies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41448"/>
            <a:ext cx="10424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2768A5"/>
                </a:solidFill>
                <a:latin typeface="Aptos"/>
              </a:defRPr>
            </a:pPr>
            <a:r>
              <a:t>https://www.who.int/emergencies/surveillance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43784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0233D"/>
                </a:solidFill>
                <a:latin typeface="Aptos"/>
              </a:defRPr>
            </a:pPr>
            <a:r>
              <a:t>WHO — Infection prevention and control: Contact tracing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36392"/>
            <a:ext cx="10424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2768A5"/>
                </a:solidFill>
                <a:latin typeface="Aptos"/>
              </a:defRPr>
            </a:pPr>
            <a:r>
              <a:t>https://www.who.int/news-room/questions-and-answers/item/contact-tracing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38728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0233D"/>
                </a:solidFill>
                <a:latin typeface="Aptos"/>
              </a:defRPr>
            </a:pPr>
            <a:r>
              <a:t>WHO — WHO guideline on contact tracing (2024)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31336"/>
            <a:ext cx="10424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2768A5"/>
                </a:solidFill>
                <a:latin typeface="Aptos"/>
              </a:defRPr>
            </a:pPr>
            <a:r>
              <a:t>https://www.ncbi.nlm.nih.gov/books/NBK611575/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33672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0233D"/>
                </a:solidFill>
                <a:latin typeface="Aptos"/>
              </a:defRPr>
            </a:pPr>
            <a:r>
              <a:t>WHO — International Health Regulations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26280"/>
            <a:ext cx="10424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2768A5"/>
                </a:solidFill>
                <a:latin typeface="Aptos"/>
              </a:defRPr>
            </a:pPr>
            <a:r>
              <a:t>https://www.who.int/health-topics/international-health-regulations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28616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0233D"/>
                </a:solidFill>
                <a:latin typeface="Aptos"/>
              </a:defRPr>
            </a:pPr>
            <a:r>
              <a:t>WHO — Global Outbreak Alert and Response Network (GOARN)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21224"/>
            <a:ext cx="10424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2768A5"/>
                </a:solidFill>
                <a:latin typeface="Aptos"/>
              </a:defRPr>
            </a:pPr>
            <a:r>
              <a:t>https://goarn.who.int/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9788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BE4444"/>
                </a:solidFill>
                <a:latin typeface="Aptos"/>
              </a:defRPr>
            </a:pPr>
            <a:r>
              <a:t>Use local health-authority instructions for real outbreaks; this school project is not medical advice.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784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2707E"/>
                </a:solidFill>
                <a:latin typeface="Aptos"/>
              </a:defRPr>
            </a:pPr>
            <a:r>
              <a:t>OUTBREAK CONTROL UNIT • SCHOOL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48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62707E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